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114B7E"/>
                </a:solidFill>
                <a:latin typeface="Arial"/>
              </a:defRPr>
            </a:pPr>
            <a:r>
              <a:t>AgriTrust AI: Multimodal Crop Pathology &amp; Surveillance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3800" b="1">
                <a:solidFill>
                  <a:srgbClr val="0F2D4A"/>
                </a:solidFill>
                <a:latin typeface="Times New Roman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Problem Statement ID –</a:t>
            </a:r>
            <a:r>
              <a:rPr b="0" sz="1500">
                <a:solidFill>
                  <a:srgbClr val="1A1A1A"/>
                </a:solidFill>
                <a:latin typeface="Arial"/>
              </a:rPr>
              <a:t> SIH1608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Problem Statement Title –</a:t>
            </a:r>
            <a:r>
              <a:rPr b="0" sz="1500">
                <a:solidFill>
                  <a:srgbClr val="1A1A1A"/>
                </a:solidFill>
                <a:latin typeface="Arial"/>
              </a:rPr>
              <a:t> AI-Driven Multimodal Crop Pathology &amp; Trustworthy Surveillance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Theme –</a:t>
            </a:r>
            <a:r>
              <a:rPr b="0" sz="1500">
                <a:solidFill>
                  <a:srgbClr val="1A1A1A"/>
                </a:solidFill>
                <a:latin typeface="Arial"/>
              </a:rPr>
              <a:t> Agriculture, FoodTech &amp; Rural Development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PS Category –</a:t>
            </a:r>
            <a:r>
              <a:rPr b="0" sz="1500">
                <a:solidFill>
                  <a:srgbClr val="1A1A1A"/>
                </a:solidFill>
                <a:latin typeface="Arial"/>
              </a:rPr>
              <a:t> Software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Team ID –</a:t>
            </a:r>
            <a:r>
              <a:rPr b="0" sz="1500">
                <a:solidFill>
                  <a:srgbClr val="1A1A1A"/>
                </a:solidFill>
                <a:latin typeface="Arial"/>
              </a:rPr>
              <a:t> [Your Team ID]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Arial"/>
              </a:rPr>
              <a:t>Team Name –</a:t>
            </a:r>
            <a:r>
              <a:rPr b="0" sz="1500">
                <a:solidFill>
                  <a:srgbClr val="114B7E"/>
                </a:solidFill>
                <a:latin typeface="Arial"/>
              </a:rPr>
              <a:t> binge hack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3600" b="1">
                <a:solidFill>
                  <a:srgbClr val="0F2D4A"/>
                </a:solidFill>
                <a:latin typeface="Times New Roman"/>
              </a:defRPr>
            </a:pPr>
            <a:r>
              <a:t>IDEA TITLE: AGRITRUST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buFont typeface="Wingdings"/>
              <a:buChar char="v"/>
            </a:pPr>
            <a:r>
              <a:rPr sz="1800" b="1" u="sng">
                <a:solidFill>
                  <a:srgbClr val="114B7E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Detailed explanation: </a:t>
            </a:r>
            <a:r>
              <a:rPr sz="1400" b="0">
                <a:solidFill>
                  <a:srgbClr val="1A1A1A"/>
                </a:solidFill>
                <a:latin typeface="Arial"/>
              </a:rPr>
              <a:t>AgriTrust AI is a multimodal crop pathology engine that integrates ResNet-18 computer vision with real-time soil moisture and 48-hour Open-Meteo weather forecasts to accurately diagnose disease, grade severity via CORN ordinal regression (0-3), and explain detections with Grad-CAM heatmaps.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How it addresses the problem: </a:t>
            </a:r>
            <a:r>
              <a:rPr sz="1400" b="0">
                <a:solidFill>
                  <a:srgbClr val="1A1A1A"/>
                </a:solidFill>
                <a:latin typeface="Arial"/>
              </a:rPr>
              <a:t>Standard apps guess blindly on blurry or non-crop photos. AgriTrust implements a Mahalanobis OOD guard that rejects 100% of non-crop objects and abstains below 70% confidence. Furthermore, a cross-crop guard stops misidentifications (e.g. apple leaves scanned under arecanut), while AI chat provides verified, zero-hallucination ICAR/KVK treatment protocols.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Innovation and uniqueness: </a:t>
            </a:r>
            <a:r>
              <a:rPr sz="1400" b="0">
                <a:solidFill>
                  <a:srgbClr val="1A1A1A"/>
                </a:solidFill>
                <a:latin typeface="Arial"/>
              </a:rPr>
              <a:t>1) Dual-modality fusion: 512-dim visual features + 64-dim soil/weather sensor embeddings for outbreak escalation risk. 2) Farmer Bounty Flywheel: "Contribute &amp; Earn" rewards smallholders with micro-payouts for verified field photos through an automated leakage-proof gatekeeper.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4B7E"/>
                </a:solidFill>
                <a:latin typeface="Arial"/>
              </a:defRPr>
            </a:pPr>
            <a:r>
              <a:t>binge hack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F2D4A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buFont typeface="Wingdings"/>
              <a:buChar char="v"/>
            </a:pPr>
            <a:r>
              <a:rPr sz="1800" b="1" u="sng">
                <a:solidFill>
                  <a:srgbClr val="114B7E"/>
                </a:solidFill>
                <a:latin typeface="Arial"/>
              </a:rPr>
              <a:t>Technical Approach (Technologies, Methodology &amp; Architecture)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Technologies to be used: </a:t>
            </a:r>
            <a:r>
              <a:rPr sz="1400" b="0">
                <a:solidFill>
                  <a:srgbClr val="1A1A1A"/>
                </a:solidFill>
                <a:latin typeface="Arial"/>
              </a:rPr>
              <a:t>PyTorch &amp; Torchvision (ResNet-18 vision models, CORN ordinal loss), SensorEncoder MLP, Open-Meteo REST API (soil moisture &amp; weather), Streamlit Multipage Framework (Python 3.14), WebGL / Pydeck GIS mapping engine, and gTTS for trilingual audio synthesis (English, Kannada, Hindi).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Diagnostic Pipeline &amp; Architecture: </a:t>
            </a:r>
            <a:r>
              <a:rPr sz="1400" b="0">
                <a:solidFill>
                  <a:srgbClr val="1A1A1A"/>
                </a:solidFill>
                <a:latin typeface="Arial"/>
              </a:rPr>
              <a:t>Input images first pass through our Ledoit-Wolf Mahalanobis OOD filter to reject invalid objects. Valid inputs are classified across 23 crop pathology classes across Paddy, Arecanut, and Apple, followed by CORN ordinal severity grading and Grad-CAM spatial lesion localization.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Multimodal Risk &amp; Surveillance Engine: </a:t>
            </a:r>
            <a:r>
              <a:rPr sz="1400" b="0">
                <a:solidFill>
                  <a:srgbClr val="1A1A1A"/>
                </a:solidFill>
                <a:latin typeface="Arial"/>
              </a:rPr>
              <a:t>Live temperature, humidity, and soil moisture are mapped against plant pathology models (Mills Period for Apple Scab, IRRI Blast indices). Geo-tagged farmer submissions are aggregated to anonymized district centroids on a real-time GIS map, enabling rapid agricultural extension response.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4B7E"/>
                </a:solidFill>
                <a:latin typeface="Arial"/>
              </a:defRPr>
            </a:pPr>
            <a:r>
              <a:t>binge hack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F2D4A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  <a:buFont typeface="Wingdings"/>
              <a:buChar char="v"/>
            </a:pPr>
            <a:r>
              <a:rPr sz="1800" b="1" u="sng">
                <a:solidFill>
                  <a:srgbClr val="114B7E"/>
                </a:solidFill>
                <a:latin typeface="Arial"/>
              </a:rPr>
              <a:t>Feasibility and Viability (Implementation, Risks &amp; Mitigations)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Feasibility of the idea: </a:t>
            </a:r>
            <a:r>
              <a:rPr sz="1400" b="0">
                <a:solidFill>
                  <a:srgbClr val="1A1A1A"/>
                </a:solidFill>
                <a:latin typeface="Arial"/>
              </a:rPr>
              <a:t>High technical feasibility with lightweight CPU-compatible ResNet-18 checkpoints (~345 MB total). Seamlessly deploys on low-cost cloud servers, local edge devices, or field smartphones with trilingual voice support for low-literacy farmers.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Potential challenges and risks: </a:t>
            </a:r>
            <a:r>
              <a:rPr sz="1400" b="0">
                <a:solidFill>
                  <a:srgbClr val="1A1A1A"/>
                </a:solidFill>
                <a:latin typeface="Arial"/>
              </a:rPr>
              <a:t>1) Non-lab field imagery with complex backgrounds, occlusion, and dust. 2) Accidental submission of incorrect crop categories. 3) Intermittent rural network connectivity.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Strategies for overcoming challenges: </a:t>
            </a:r>
            <a:r>
              <a:rPr sz="1400" b="0">
                <a:solidFill>
                  <a:srgbClr val="1A1A1A"/>
                </a:solidFill>
                <a:latin typeface="Arial"/>
              </a:rPr>
              <a:t>1) OOD Mahalanobis guard calibrated on training residuals prevents false confidences. 2) High-confidence cross-crop verification catches category mismatches. 3) Client-side image preprocessing and cached agronomic rulebooks ensure continuous offline advisory delivery.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4B7E"/>
                </a:solidFill>
                <a:latin typeface="Arial"/>
              </a:defRPr>
            </a:pPr>
            <a:r>
              <a:t>binge hack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F2D4A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  <a:buFont typeface="Wingdings"/>
              <a:buChar char="v"/>
            </a:pPr>
            <a:r>
              <a:rPr sz="1800" b="1" u="sng">
                <a:solidFill>
                  <a:srgbClr val="114B7E"/>
                </a:solidFill>
                <a:latin typeface="Arial"/>
              </a:rPr>
              <a:t>Impact and Benefits (Social, Economic &amp; Environmental)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Social &amp; Target Audience Impact: </a:t>
            </a:r>
            <a:r>
              <a:rPr sz="1400" b="0">
                <a:solidFill>
                  <a:srgbClr val="1A1A1A"/>
                </a:solidFill>
                <a:latin typeface="Arial"/>
              </a:rPr>
              <a:t>Democratizes agronomic expertise for millions of smallholder farmers across Karnataka and northern apple-growing belts, delivering trusted advisory in Kannada, Hindi, and English with one-click vernacular audio playback.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Economic Benefits: </a:t>
            </a:r>
            <a:r>
              <a:rPr sz="1400" b="0">
                <a:solidFill>
                  <a:srgbClr val="1A1A1A"/>
                </a:solidFill>
                <a:latin typeface="Arial"/>
              </a:rPr>
              <a:t>Saves farmers up to 30% in chemical costs by replacing indiscriminate spraying with precision, severity-graded dosage. Additionally, the "Contribute &amp; Earn" bounty wallet directly supplements rural incomes through verified data collection.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Environmental &amp; Agronomic Benefits: </a:t>
            </a:r>
            <a:r>
              <a:rPr sz="1400" b="0">
                <a:solidFill>
                  <a:srgbClr val="1A1A1A"/>
                </a:solidFill>
                <a:latin typeface="Arial"/>
              </a:rPr>
              <a:t>Enforces ICAR-approved organic, biological, and soil health management steps before recommending chemical interventions, preventing hazardous pesticide runoff and groundwater contamination.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4B7E"/>
                </a:solidFill>
                <a:latin typeface="Arial"/>
              </a:defRPr>
            </a:pPr>
            <a:r>
              <a:t>binge hack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3600" b="1">
                <a:solidFill>
                  <a:srgbClr val="0F2D4A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  <a:buFont typeface="Wingdings"/>
              <a:buChar char="v"/>
            </a:pPr>
            <a:r>
              <a:rPr sz="1800" b="1" u="sng">
                <a:solidFill>
                  <a:srgbClr val="114B7E"/>
                </a:solidFill>
                <a:latin typeface="Arial"/>
              </a:rPr>
              <a:t>Research and References (Literature, Standards &amp; Datasets)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Agronomic Protocols &amp; Standards: </a:t>
            </a:r>
            <a:r>
              <a:rPr sz="1400" b="0">
                <a:solidFill>
                  <a:srgbClr val="1A1A1A"/>
                </a:solidFill>
                <a:latin typeface="Arial"/>
              </a:rPr>
              <a:t>ICAR &amp; KVK Package of Practices for Rice, Arecanut, and Horticultural Crops; Mills Period Infection Criteria for Apple Scab (Cornell University Extension); IRRI Climate-Linked Rice Blast Warning Systems.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Deep Learning &amp; Methodology References: </a:t>
            </a:r>
            <a:r>
              <a:rPr sz="1400" b="0">
                <a:solidFill>
                  <a:srgbClr val="1A1A1A"/>
                </a:solidFill>
                <a:latin typeface="Arial"/>
              </a:rPr>
              <a:t>He et al. (2016) ResNet Deep Residual Learning; Selvaraju et al. (2017) Grad-CAM Visual Localization; Shi et al. (2023) CORN Ordinal Regression; Lee et al. (2018) Mahalanobis Out-of-Distribution Framework with Ledoit-Wolf Covariance Shrinkage.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Arial"/>
              </a:rPr>
              <a:t>Datasets &amp; Meteorological Sources: </a:t>
            </a:r>
            <a:r>
              <a:rPr sz="1400" b="0">
                <a:solidFill>
                  <a:srgbClr val="1A1A1A"/>
                </a:solidFill>
                <a:latin typeface="Arial"/>
              </a:rPr>
              <a:t>Paddy Doctor Benchmark (Paddy pathology), PlantVillage &amp; FGVC7 / Cornell University Apple Dataset, Kaggle/Local Arecanut Field Repository, Open-Meteo High-Resolution Global Forecast &amp; Soil Moisture API.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4B7E"/>
                </a:solidFill>
                <a:latin typeface="Arial"/>
              </a:defRPr>
            </a:pPr>
            <a:r>
              <a:t>binge hack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