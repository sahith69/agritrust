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38BDF8"/>
                </a:solidFill>
              </a:defRPr>
            </a:pPr>
            <a:r>
              <a:t>EXPLAINABLE MACHINE LEARNING FRAMEWORK FOR CROP DISEASE SEVERITY</a:t>
            </a:r>
          </a:p>
          <a:p>
            <a:pPr>
              <a:spcAft>
                <a:spcPts val="3500"/>
              </a:spcAft>
              <a:defRPr sz="1800">
                <a:solidFill>
                  <a:srgbClr val="94A3B8"/>
                </a:solidFill>
              </a:defRPr>
            </a:pPr>
            <a:r>
              <a:t>Zero-Leakage Classification, CORN Ordinal Severity Grading, and Spatial Feature Attribution in Paddy and Arecanut</a:t>
            </a:r>
          </a:p>
          <a:p>
            <a:pPr>
              <a:defRPr sz="1600" b="1">
                <a:solidFill>
                  <a:srgbClr val="4ADE80"/>
                </a:solidFill>
              </a:defRPr>
            </a:pPr>
            <a:r>
              <a:t>Paper Contributions &amp; Empirical Defense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1. Research Motivation &amp; Core Paper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Core Research Gaps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Nominal vs Ordinal Gap: Standard deep classifiers treat disease severity as nominal labels, failing to penalize large rank reversals.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Split Leakage Flaws: Published agricultural benchmarks leak camera bursts across splits (~99.79% accuracy illusion).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Class Imbalance &amp; Data Scarcity: Severe class skew between majority classes (N=502) and rare pests (N=61 bud_borer).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Explainability Blind Spots: Deep CNNs frequently exploit background shortcuts rather than true leaf pathology.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Key Paper Contributions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Weakly Supervised Auto-Labeling: Derive Horsfall-Barratt severity grades via adaptive Otsu HSV color-space segmentation.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Leak-Free Group Partitioning: Enforce robust_cluster_id graph clustering (pHash &lt;= 5 bits, Delta t &lt;= 120s) for 0% split overlap.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Deep Ordinal CORN Formulations: Fine-tune ResNet backbones using Consistent Rank Logits (CORN) for rank-consistent severity modeling.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Empirical Audits: Audit bootstrap CIs, expose soft-leakage in expanded datasets, and evaluate spatial Grad-CAM attribution.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2. Dataset Taxonomy &amp; Zero-Leakage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Dataset Breakdown (12,714 Total Images)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Paddy Dataset (outputs/paddy_splits.csv): 10,053 trained-on total images (7,036 train / 1,510 val / 1,507 test; N=732 twin-free test).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Arecanut Honest Split (outputs/arecanut_splits.csv): 2,661 total images (1,628 train / 547 val / 486 test) across 9 disease classes.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Paddy Ordinal Severity Subset: 343 lesion-bearing test images evaluated for 7-class ordinal QWK.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Quality Control: 354 Paddy images excluded due to low confidence (C &lt; 0.80) or boundary proximity (|rho - theta| &lt; 0.5%).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BBF24"/>
                </a:solidFill>
              </a:defRPr>
            </a:pPr>
            <a:r>
              <a:t>Rigorous Data Leakage Audit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 Discovery: Naive random splits cause severe camera burst &amp; orchard leakage, artificially inflating accuracy.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Cluster Grouping: Created robust_cluster_id based on capture timestamps, pHash visual hashes, and image lineages.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Zero-Leakage Partitioning: Guaranteed 100% strict cluster separation between train, val, and test splits.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Benchmark Result: Established an honest, non-inflated evaluation baseline.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3. Deep Learning Architecture &amp; Loss Formulations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Selective Transfer Learning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Pretrained Initialization: ImageNet-1K ResNet-18 weights.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Selective Layer Freezing: conv1 through layer3 frozen (2.8M params); layer4 + FC head unfrozen (8.38M params).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Optimizer: AdamW (learning rate = 3e-4, weight decay = 1e-4, Dropout p=0.4).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Data Augmentation: Random Crops, Flips (p=0.3), Rotation (30 deg), Color Jitter.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Loss Function Mathematical Design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Class-Weighted Cross-Entropy: L_CE = -sum(w_c * y_c * log(p_c)), where w_c = max(N) / N_c.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Focal Loss: L_Focal = -alpha_t * (1 - p_t)^gamma * log(p_t) (gamma=2.0) to focus gradients on hard samples.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CORN Ordinal Loss: Evaluates conditional probabilities P(Y &gt; k | Y &gt;= k) over K-1 binary sub-classifiers.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4. Paddy Classification &amp; Severity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10-Class Disease Classification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Test Accuracy: 96.04% across 10 paddy classes.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Validation Accuracy: 96.56%.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Evaluated on paddy_splits.csv (N=10,053 total trained-on images; N=732 twin-free test sample subset).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High per-class precision across Bacterial Leaf Blight, Blast, Brown Spot, Tungro, Hispa,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Quantitative Ordinal Severity Grading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Paddy 2-Class Screening Accuracy: 98.36% [95% CI: 97.40%, 99.18%] (N=732 test images).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7-Class Ordinal Severity QWK: 0.7055 [95% CI: 0.589, 0.800] achieved by CORN Ensemble (TTA).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Evaluated on N=343 lesion-bearing test images.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Combines deep CORN predictions with adaptive HSV leaf lesion surface area ratio calculation.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5. Arecanut Baseline &amp; Statistical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Honest Baseline (outputs/arecanut_splits.csv)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Dataset Split: 1,628 train / 547 val / 486 test (0 cluster leak).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Baseline Test Accuracy: 82.92% [95% CI: 72.82%, 91.88%].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Baseline Macro-F1: 73.05% [95% CI: 59.46%, 83.09%].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Training Strategy: Focal Loss (gamma=2.0) + WeightedRandomSampler.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BBF24"/>
                </a:solidFill>
              </a:defRPr>
            </a:pPr>
            <a:r>
              <a:t>Rerun Checkpoint &amp; Bootstrap CI Audit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Rerun Checkpoint Test Accuracy: 90.33% [95% CI: 83.55%, 96.19%].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Rerun Macro-F1: 85.13% [95% CI: 71.52%, 91.35%].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Statistical Audit Finding: 95% CIs overlap substantially ([83.55%, 91.88%]).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ML Caveat: No statistically distinguishable improvement exists between 82.92% and 90.33% on N=486; baseline performance remains statistically solid.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6. Spatial Feature Attribution (Grad-CAM)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Gradient Backpropagation Mechanism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Target Layer: base.layer4[-1] (7x7x512 feature map grid).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Computes gradients of class score y_c with respect to activation maps A^k.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Performs global average pooling to obtain neuron importance weights alpha_k^c.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Generates 2D spatial heatmaps L_{Grad-CAM}^c = ReLU(sum(alpha_k^c * A^k)).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Verification of Feature Representations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Validates Model Focus: Confirms CNN attends to actual disease lesions, rot spots, and stem cracks.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Detects Shortcut Artifacts: Highlighted when models accidentally focus on background foliage or soil.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Pointing Game Evaluation: Paddy diseased pointing acc = 13.88% (N=245); Arecanut = 4.55% (N=66).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7. Audit Findings &amp; Representation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FBBF24"/>
                </a:solidFill>
              </a:defRPr>
            </a:pPr>
            <a:r>
              <a:t>Soft-Leakage Discovery on Kaggle Pool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Expanded Experiment: Merging external Kaggle images showed ~99.79% accuracy.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Audit Finding: External Kaggle images shared identical capture sessions (burst photography, camera sensors) with test set.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Action Taken: Discarded leaky dataset expansions; reinstated honest baseline split (arecanut_splits.csv).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Physical Lineage Limitation (bud_borer)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Data Bottleneck: The entire public Arecanut dataset contains only 5 physical base photo lineages for bud_borer (N=61 train / 33 test).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Linear Class Weight Shift: Loss weights (8.23x) pushed 11 test images across decision boundary (33.3% recall), but all 11 belong to 2 lineages.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Conclusion: bud_borer evaluation requires new independently collected physical field specimens.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8. Advanced ML Roadmap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Advanced Loss &amp; Latent Regularization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LDAM Loss + DRW: Implement Label-Distribution-Aware Margin loss to enforce wider latent margins for minority classes.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Manifold Mixup: Interpolate intermediate feature representations (layer3/layer4) to smooth minority decision boundaries.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Foreground Pre-Segmentation: Pre-segment leaves to mask out background foliage and eliminate shortcut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4ADE80"/>
                </a:solidFill>
              </a:defRPr>
            </a:pPr>
            <a:r>
              <a:t>Evaluation &amp; Domain Generalization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Cluster-Grouped 5-Fold CV: Scale evaluation across all 2,661 Arecanut images to increase statistical evaluation power 5.5x.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Domain-Adversarial Alignment (DANN): Minimize feature distance across photography sessions using domain loss terms.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Precision-Recall AUC Benchmark: Evaluate PR-AUC alongside top-1 accuracy to measure threshold-independent class calibration.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PAPER METHODOLOGY &amp; RESULTS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9. Summary of Paper Deliverables &amp;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1000"/>
              </a:spcAft>
              <a:defRPr sz="1800" b="1">
                <a:solidFill>
                  <a:srgbClr val="38BDF8"/>
                </a:solidFill>
              </a:defRPr>
            </a:pPr>
            <a:r>
              <a:t>Core Empirical Benchmarks Locked for paper.tex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Paddy Disease Classification: 96.04% Test Accuracy on N=10,053 trained-on dataset (paddy_splits.csv; N=732 twin-free test).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Paddy Ordinal Severity Grading: 0.7055 QWK [0.589, 0.800] via CORN Ensemble on N=343 lesion test subset.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Paddy 2-Class Disease Screening: 98.36% [97.40%, 99.18%] 2-class accuracy on N=732 test images.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Arecanut Baseline Classification: 82.92% Test Accuracy [72.82%, 91.88%] on N=2,661 zero-leakage split v2.</a:t>
            </a:r>
          </a:p>
          <a:p>
            <a:pPr>
              <a:spcAft>
                <a:spcPts val="600"/>
              </a:spcAft>
              <a:defRPr sz="1300">
                <a:solidFill>
                  <a:srgbClr val="F8FAFC"/>
                </a:solidFill>
              </a:defRPr>
            </a:pPr>
            <a:r>
              <a:t>•  Arecanut Rerun Stat Equivalence: Rerun 90.33% [83.55%, 96.19%] overlaps baseline CI by 8.33%; no statistically distinguishable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